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embeddedFontLst>
    <p:embeddedFont>
      <p:font typeface="Quattrocento Sans" panose="020B0502050000020003" pitchFamily="3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10" roundtripDataSignature="AMtx7mh25xktGHMJRxX7Qy0FN+pmM3PE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presProps" Target="presProps.xml"/><Relationship Id="rId5" Type="http://schemas.openxmlformats.org/officeDocument/2006/relationships/font" Target="fonts/font2.fntdata"/><Relationship Id="rId10" Type="http://customschemas.google.com/relationships/presentationmetadata" Target="metadata"/><Relationship Id="rId4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" name="Google Shape;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>
            <a:spLocks noGrp="1"/>
          </p:cNvSpPr>
          <p:nvPr>
            <p:ph type="title"/>
          </p:nvPr>
        </p:nvSpPr>
        <p:spPr>
          <a:xfrm>
            <a:off x="174945" y="234863"/>
            <a:ext cx="8794113" cy="29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/>
          <p:nvPr/>
        </p:nvSpPr>
        <p:spPr>
          <a:xfrm>
            <a:off x="8298444" y="37255"/>
            <a:ext cx="670614" cy="12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6"/>
              <a:buFont typeface="Arial"/>
              <a:buNone/>
            </a:pPr>
            <a:endParaRPr sz="81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2343099" y="2570857"/>
            <a:ext cx="4389768" cy="125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81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40"/>
              <a:buFont typeface="Arial"/>
              <a:buChar char="▪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293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58"/>
              <a:buFont typeface="Arial"/>
              <a:buChar char="–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293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58"/>
              <a:buFont typeface="Arial"/>
              <a:buChar char="▫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080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080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title"/>
          </p:nvPr>
        </p:nvSpPr>
        <p:spPr>
          <a:xfrm>
            <a:off x="174945" y="234863"/>
            <a:ext cx="8794113" cy="29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343875" y="2160650"/>
            <a:ext cx="1208700" cy="3324000"/>
          </a:xfrm>
          <a:prstGeom prst="round1Rect">
            <a:avLst>
              <a:gd name="adj" fmla="val 16667"/>
            </a:avLst>
          </a:prstGeom>
          <a:solidFill>
            <a:srgbClr val="00C09D"/>
          </a:solidFill>
          <a:ln>
            <a:noFill/>
          </a:ln>
        </p:spPr>
        <p:txBody>
          <a:bodyPr spcFirstLastPara="1" wrap="square" lIns="5485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1"/>
                </a:solidFill>
              </a:rPr>
              <a:t>How could </a:t>
            </a:r>
            <a:r>
              <a:rPr lang="en-US" b="1" dirty="0" err="1">
                <a:solidFill>
                  <a:schemeClr val="lt1"/>
                </a:solidFill>
              </a:rPr>
              <a:t>Monalco</a:t>
            </a:r>
            <a:r>
              <a:rPr lang="en-US" b="1" dirty="0">
                <a:solidFill>
                  <a:schemeClr val="lt1"/>
                </a:solidFill>
              </a:rPr>
              <a:t> Mining reduce its annual operational cost by 20% through a careful restraint of maintenance cost in order to sustain its profitability?</a:t>
            </a:r>
            <a:endParaRPr lang="en-US" dirty="0"/>
          </a:p>
        </p:txBody>
      </p:sp>
      <p:cxnSp>
        <p:nvCxnSpPr>
          <p:cNvPr id="35" name="Google Shape;35;p1"/>
          <p:cNvCxnSpPr/>
          <p:nvPr/>
        </p:nvCxnSpPr>
        <p:spPr>
          <a:xfrm rot="-5400000">
            <a:off x="678060" y="2881249"/>
            <a:ext cx="1648800" cy="234000"/>
          </a:xfrm>
          <a:prstGeom prst="bentConnector3">
            <a:avLst>
              <a:gd name="adj1" fmla="val 0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6" name="Google Shape;36;p1"/>
          <p:cNvCxnSpPr/>
          <p:nvPr/>
        </p:nvCxnSpPr>
        <p:spPr>
          <a:xfrm rot="10800000" flipH="1">
            <a:off x="2527423" y="1967663"/>
            <a:ext cx="224700" cy="206100"/>
          </a:xfrm>
          <a:prstGeom prst="bentConnector3">
            <a:avLst>
              <a:gd name="adj1" fmla="val 49988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7" name="Google Shape;37;p1"/>
          <p:cNvCxnSpPr/>
          <p:nvPr/>
        </p:nvCxnSpPr>
        <p:spPr>
          <a:xfrm>
            <a:off x="2527423" y="2173763"/>
            <a:ext cx="224700" cy="206100"/>
          </a:xfrm>
          <a:prstGeom prst="bentConnector3">
            <a:avLst>
              <a:gd name="adj1" fmla="val 49988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8" name="Google Shape;38;p1"/>
          <p:cNvCxnSpPr/>
          <p:nvPr/>
        </p:nvCxnSpPr>
        <p:spPr>
          <a:xfrm rot="10800000" flipH="1">
            <a:off x="2527423" y="3048734"/>
            <a:ext cx="224700" cy="206100"/>
          </a:xfrm>
          <a:prstGeom prst="bentConnector3">
            <a:avLst>
              <a:gd name="adj1" fmla="val 49988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9" name="Google Shape;39;p1"/>
          <p:cNvCxnSpPr/>
          <p:nvPr/>
        </p:nvCxnSpPr>
        <p:spPr>
          <a:xfrm>
            <a:off x="2527423" y="3254834"/>
            <a:ext cx="224700" cy="206100"/>
          </a:xfrm>
          <a:prstGeom prst="bentConnector3">
            <a:avLst>
              <a:gd name="adj1" fmla="val 49988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0" name="Google Shape;40;p1"/>
          <p:cNvCxnSpPr/>
          <p:nvPr/>
        </p:nvCxnSpPr>
        <p:spPr>
          <a:xfrm rot="10800000" flipH="1">
            <a:off x="2527423" y="4156756"/>
            <a:ext cx="224700" cy="206100"/>
          </a:xfrm>
          <a:prstGeom prst="bentConnector3">
            <a:avLst>
              <a:gd name="adj1" fmla="val 49988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1" name="Google Shape;41;p1"/>
          <p:cNvCxnSpPr/>
          <p:nvPr/>
        </p:nvCxnSpPr>
        <p:spPr>
          <a:xfrm>
            <a:off x="2527423" y="4362856"/>
            <a:ext cx="224700" cy="206100"/>
          </a:xfrm>
          <a:prstGeom prst="bentConnector3">
            <a:avLst>
              <a:gd name="adj1" fmla="val 49988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2" name="Google Shape;42;p1"/>
          <p:cNvCxnSpPr/>
          <p:nvPr/>
        </p:nvCxnSpPr>
        <p:spPr>
          <a:xfrm rot="10800000" flipH="1">
            <a:off x="2527423" y="5265432"/>
            <a:ext cx="224700" cy="206100"/>
          </a:xfrm>
          <a:prstGeom prst="bentConnector3">
            <a:avLst>
              <a:gd name="adj1" fmla="val 49988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3" name="Google Shape;43;p1"/>
          <p:cNvCxnSpPr/>
          <p:nvPr/>
        </p:nvCxnSpPr>
        <p:spPr>
          <a:xfrm>
            <a:off x="2527423" y="5471532"/>
            <a:ext cx="224700" cy="206100"/>
          </a:xfrm>
          <a:prstGeom prst="bentConnector3">
            <a:avLst>
              <a:gd name="adj1" fmla="val 49988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4" name="Google Shape;44;p1"/>
          <p:cNvCxnSpPr/>
          <p:nvPr/>
        </p:nvCxnSpPr>
        <p:spPr>
          <a:xfrm rot="-5400000">
            <a:off x="1090260" y="3293449"/>
            <a:ext cx="824400" cy="234000"/>
          </a:xfrm>
          <a:prstGeom prst="bentConnector3">
            <a:avLst>
              <a:gd name="adj1" fmla="val 0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5" name="Google Shape;45;p1"/>
          <p:cNvCxnSpPr/>
          <p:nvPr/>
        </p:nvCxnSpPr>
        <p:spPr>
          <a:xfrm>
            <a:off x="1385460" y="3822649"/>
            <a:ext cx="233913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6" name="Google Shape;46;p1"/>
          <p:cNvCxnSpPr/>
          <p:nvPr/>
        </p:nvCxnSpPr>
        <p:spPr>
          <a:xfrm rot="-5400000" flipH="1">
            <a:off x="1090260" y="4117849"/>
            <a:ext cx="824400" cy="234000"/>
          </a:xfrm>
          <a:prstGeom prst="bentConnector3">
            <a:avLst>
              <a:gd name="adj1" fmla="val 0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Google Shape;47;p1"/>
          <p:cNvCxnSpPr/>
          <p:nvPr/>
        </p:nvCxnSpPr>
        <p:spPr>
          <a:xfrm rot="-5400000" flipH="1">
            <a:off x="678060" y="4530049"/>
            <a:ext cx="1648800" cy="234000"/>
          </a:xfrm>
          <a:prstGeom prst="bentConnector3">
            <a:avLst>
              <a:gd name="adj1" fmla="val 0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8" name="Google Shape;48;p1"/>
          <p:cNvSpPr txBox="1">
            <a:spLocks noGrp="1"/>
          </p:cNvSpPr>
          <p:nvPr>
            <p:ph type="title"/>
          </p:nvPr>
        </p:nvSpPr>
        <p:spPr>
          <a:xfrm>
            <a:off x="171451" y="230188"/>
            <a:ext cx="8618537" cy="298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sz="1900" dirty="0" err="1"/>
              <a:t>Monalco</a:t>
            </a:r>
            <a:r>
              <a:rPr lang="en-AU" sz="1900" dirty="0"/>
              <a:t> Mining – Rishi Kamdar</a:t>
            </a:r>
            <a:endParaRPr dirty="0"/>
          </a:p>
        </p:txBody>
      </p:sp>
      <p:sp>
        <p:nvSpPr>
          <p:cNvPr id="49" name="Google Shape;49;p1"/>
          <p:cNvSpPr/>
          <p:nvPr/>
        </p:nvSpPr>
        <p:spPr>
          <a:xfrm>
            <a:off x="171451" y="17463"/>
            <a:ext cx="259365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sz="1400" b="0" i="0" u="none" strike="noStrike" cap="none" dirty="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STRUCTURED FOUNDATIONS</a:t>
            </a:r>
            <a:endParaRPr dirty="0"/>
          </a:p>
        </p:txBody>
      </p:sp>
      <p:grpSp>
        <p:nvGrpSpPr>
          <p:cNvPr id="50" name="Google Shape;50;p1"/>
          <p:cNvGrpSpPr/>
          <p:nvPr/>
        </p:nvGrpSpPr>
        <p:grpSpPr>
          <a:xfrm>
            <a:off x="270" y="832037"/>
            <a:ext cx="9143461" cy="473478"/>
            <a:chOff x="0" y="816135"/>
            <a:chExt cx="8961438" cy="463390"/>
          </a:xfrm>
        </p:grpSpPr>
        <p:sp>
          <p:nvSpPr>
            <p:cNvPr id="51" name="Google Shape;51;p1"/>
            <p:cNvSpPr/>
            <p:nvPr/>
          </p:nvSpPr>
          <p:spPr>
            <a:xfrm>
              <a:off x="0" y="816135"/>
              <a:ext cx="8961438" cy="463390"/>
            </a:xfrm>
            <a:prstGeom prst="rect">
              <a:avLst/>
            </a:prstGeom>
            <a:gradFill>
              <a:gsLst>
                <a:gs pos="0">
                  <a:srgbClr val="F2F2F2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8"/>
                <a:buFont typeface="Arial"/>
                <a:buNone/>
              </a:pPr>
              <a:endParaRPr sz="1428" b="0" i="0" u="none" strike="noStrike" cap="non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" name="Google Shape;52;p1"/>
            <p:cNvCxnSpPr/>
            <p:nvPr/>
          </p:nvCxnSpPr>
          <p:spPr>
            <a:xfrm>
              <a:off x="0" y="816135"/>
              <a:ext cx="8961438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53" name="Google Shape;53;p1"/>
          <p:cNvSpPr/>
          <p:nvPr/>
        </p:nvSpPr>
        <p:spPr>
          <a:xfrm>
            <a:off x="6079578" y="1366677"/>
            <a:ext cx="2880471" cy="329575"/>
          </a:xfrm>
          <a:prstGeom prst="rect">
            <a:avLst/>
          </a:prstGeom>
          <a:solidFill>
            <a:srgbClr val="00C09D"/>
          </a:solidFill>
          <a:ln w="254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Issue Tree is….</a:t>
            </a:r>
            <a:endParaRPr/>
          </a:p>
        </p:txBody>
      </p:sp>
      <p:sp>
        <p:nvSpPr>
          <p:cNvPr id="54" name="Google Shape;54;p1"/>
          <p:cNvSpPr txBox="1"/>
          <p:nvPr/>
        </p:nvSpPr>
        <p:spPr>
          <a:xfrm>
            <a:off x="6117194" y="1866393"/>
            <a:ext cx="2686731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✔"/>
            </a:pPr>
            <a:r>
              <a:rPr lang="en-A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as a tool to break a problem down into a series of hypotheses or issues that can be tested</a:t>
            </a:r>
            <a:endParaRPr/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✔"/>
            </a:pPr>
            <a:r>
              <a:rPr lang="en-A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as an approach to ensure all parts of the problem are considered. In other words, issues are </a:t>
            </a:r>
            <a:r>
              <a:rPr lang="en-A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collectively exhaustive.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✔"/>
            </a:pPr>
            <a:r>
              <a:rPr lang="en-A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as an approach to ensure issues do not overlap and are </a:t>
            </a:r>
            <a:r>
              <a:rPr lang="en-AU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mutually exclusive.</a:t>
            </a:r>
            <a:endParaRPr/>
          </a:p>
        </p:txBody>
      </p:sp>
      <p:grpSp>
        <p:nvGrpSpPr>
          <p:cNvPr id="55" name="Google Shape;55;p1"/>
          <p:cNvGrpSpPr/>
          <p:nvPr/>
        </p:nvGrpSpPr>
        <p:grpSpPr>
          <a:xfrm>
            <a:off x="6633337" y="6503004"/>
            <a:ext cx="2044403" cy="226731"/>
            <a:chOff x="6633337" y="6503004"/>
            <a:chExt cx="2044403" cy="226731"/>
          </a:xfrm>
        </p:grpSpPr>
        <p:sp>
          <p:nvSpPr>
            <p:cNvPr id="56" name="Google Shape;56;p1"/>
            <p:cNvSpPr/>
            <p:nvPr/>
          </p:nvSpPr>
          <p:spPr>
            <a:xfrm>
              <a:off x="6633337" y="6524418"/>
              <a:ext cx="432048" cy="205317"/>
            </a:xfrm>
            <a:prstGeom prst="chevron">
              <a:avLst>
                <a:gd name="adj" fmla="val 50000"/>
              </a:avLst>
            </a:prstGeom>
            <a:solidFill>
              <a:schemeClr val="accent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AU" sz="1200" b="1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7028512" y="6513711"/>
              <a:ext cx="432048" cy="216024"/>
            </a:xfrm>
            <a:prstGeom prst="chevron">
              <a:avLst>
                <a:gd name="adj" fmla="val 5000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AU" sz="1200" b="1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7452320" y="6503004"/>
              <a:ext cx="432048" cy="216024"/>
            </a:xfrm>
            <a:prstGeom prst="chevron">
              <a:avLst>
                <a:gd name="adj" fmla="val 5000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AU" sz="1200" b="1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7846662" y="6508081"/>
              <a:ext cx="432048" cy="216024"/>
            </a:xfrm>
            <a:prstGeom prst="chevron">
              <a:avLst>
                <a:gd name="adj" fmla="val 5000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AU" sz="1200" b="1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I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8245692" y="6503004"/>
              <a:ext cx="432048" cy="216024"/>
            </a:xfrm>
            <a:prstGeom prst="chevron">
              <a:avLst>
                <a:gd name="adj" fmla="val 5000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AU" sz="1200" b="1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1" name="Google Shape;61;p1"/>
          <p:cNvCxnSpPr/>
          <p:nvPr/>
        </p:nvCxnSpPr>
        <p:spPr>
          <a:xfrm>
            <a:off x="1509835" y="6307326"/>
            <a:ext cx="0" cy="155387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2" name="Google Shape;62;p1"/>
          <p:cNvCxnSpPr/>
          <p:nvPr/>
        </p:nvCxnSpPr>
        <p:spPr>
          <a:xfrm>
            <a:off x="2527423" y="6307326"/>
            <a:ext cx="0" cy="155387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3" name="Google Shape;63;p1"/>
          <p:cNvCxnSpPr/>
          <p:nvPr/>
        </p:nvCxnSpPr>
        <p:spPr>
          <a:xfrm>
            <a:off x="1509835" y="6462713"/>
            <a:ext cx="1017588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4" name="Google Shape;64;p1"/>
          <p:cNvCxnSpPr/>
          <p:nvPr/>
        </p:nvCxnSpPr>
        <p:spPr>
          <a:xfrm>
            <a:off x="2001838" y="6469968"/>
            <a:ext cx="0" cy="66071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5" name="Google Shape;65;p1"/>
          <p:cNvSpPr txBox="1"/>
          <p:nvPr/>
        </p:nvSpPr>
        <p:spPr>
          <a:xfrm>
            <a:off x="506867" y="6555373"/>
            <a:ext cx="426575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Complete but </a:t>
            </a:r>
            <a:r>
              <a:rPr lang="en-AU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non-overlapping</a:t>
            </a:r>
            <a:r>
              <a:rPr lang="en-AU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list of conceivable avenues to pursue</a:t>
            </a:r>
            <a:endParaRPr/>
          </a:p>
        </p:txBody>
      </p:sp>
      <p:sp>
        <p:nvSpPr>
          <p:cNvPr id="66" name="Google Shape;66;p1"/>
          <p:cNvSpPr/>
          <p:nvPr/>
        </p:nvSpPr>
        <p:spPr>
          <a:xfrm>
            <a:off x="4011786" y="1774598"/>
            <a:ext cx="157086" cy="4223771"/>
          </a:xfrm>
          <a:prstGeom prst="righ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"/>
          <p:cNvSpPr txBox="1"/>
          <p:nvPr/>
        </p:nvSpPr>
        <p:spPr>
          <a:xfrm>
            <a:off x="4262958" y="3532540"/>
            <a:ext cx="204715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Sub-Issue provides further</a:t>
            </a:r>
            <a:br>
              <a:rPr lang="en-AU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level of detail for each issue,</a:t>
            </a:r>
            <a:br>
              <a:rPr lang="en-AU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is complete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non-overlapping</a:t>
            </a: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DDF826-B889-2B4F-4304-8D5521B7D22A}"/>
              </a:ext>
            </a:extLst>
          </p:cNvPr>
          <p:cNvSpPr/>
          <p:nvPr/>
        </p:nvSpPr>
        <p:spPr>
          <a:xfrm>
            <a:off x="1619267" y="1866393"/>
            <a:ext cx="908050" cy="513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Identifying Maintenance Costs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99182E-6FCF-1F9F-855A-E27892E6FAC8}"/>
              </a:ext>
            </a:extLst>
          </p:cNvPr>
          <p:cNvSpPr/>
          <p:nvPr/>
        </p:nvSpPr>
        <p:spPr>
          <a:xfrm>
            <a:off x="1618686" y="2943322"/>
            <a:ext cx="908050" cy="513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Conducting Audit of Current Cost Situation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4DEDCB-F553-ABC3-C99E-BF35FCCF3F2F}"/>
              </a:ext>
            </a:extLst>
          </p:cNvPr>
          <p:cNvSpPr/>
          <p:nvPr/>
        </p:nvSpPr>
        <p:spPr>
          <a:xfrm>
            <a:off x="1618686" y="4105850"/>
            <a:ext cx="908050" cy="513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Developing new strategy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670A2C-E566-A32B-5E34-EC44BF687668}"/>
              </a:ext>
            </a:extLst>
          </p:cNvPr>
          <p:cNvSpPr/>
          <p:nvPr/>
        </p:nvSpPr>
        <p:spPr>
          <a:xfrm>
            <a:off x="1618686" y="5203199"/>
            <a:ext cx="908050" cy="513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Analyzing and Tracking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59F43B-6C34-00A3-0100-217EAC744F5F}"/>
              </a:ext>
            </a:extLst>
          </p:cNvPr>
          <p:cNvSpPr/>
          <p:nvPr/>
        </p:nvSpPr>
        <p:spPr>
          <a:xfrm>
            <a:off x="2765110" y="1774598"/>
            <a:ext cx="1152590" cy="369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Identifying necessary costs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F6B7A9-E80B-0870-9AED-6F0DFEDF0C86}"/>
              </a:ext>
            </a:extLst>
          </p:cNvPr>
          <p:cNvSpPr/>
          <p:nvPr/>
        </p:nvSpPr>
        <p:spPr>
          <a:xfrm>
            <a:off x="2760508" y="2200711"/>
            <a:ext cx="1152590" cy="369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Finding cheaper alternatives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09DFC1-8C1A-71DD-5AA6-C4C3D7E8B8C9}"/>
              </a:ext>
            </a:extLst>
          </p:cNvPr>
          <p:cNvSpPr/>
          <p:nvPr/>
        </p:nvSpPr>
        <p:spPr>
          <a:xfrm>
            <a:off x="2765110" y="2828895"/>
            <a:ext cx="1152590" cy="369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Who will do the cost analysis?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7A6D22-93FA-5F1A-5A9D-BAF92EBF93BA}"/>
              </a:ext>
            </a:extLst>
          </p:cNvPr>
          <p:cNvSpPr/>
          <p:nvPr/>
        </p:nvSpPr>
        <p:spPr>
          <a:xfrm>
            <a:off x="2762130" y="3265593"/>
            <a:ext cx="1152590" cy="369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Identifying areas of excess cost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EC234E-C952-2B97-83DC-3DFAC34DDA24}"/>
              </a:ext>
            </a:extLst>
          </p:cNvPr>
          <p:cNvSpPr/>
          <p:nvPr/>
        </p:nvSpPr>
        <p:spPr>
          <a:xfrm>
            <a:off x="2765110" y="3945825"/>
            <a:ext cx="1152590" cy="369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Who will lead this initiative?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9C942A-F260-34BC-DB09-F4934DB3EA4B}"/>
              </a:ext>
            </a:extLst>
          </p:cNvPr>
          <p:cNvSpPr/>
          <p:nvPr/>
        </p:nvSpPr>
        <p:spPr>
          <a:xfrm>
            <a:off x="2760508" y="4371938"/>
            <a:ext cx="1152590" cy="369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How will this impact workforce?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F1E0A9-82CE-3FC8-D0F9-CD51CA262D69}"/>
              </a:ext>
            </a:extLst>
          </p:cNvPr>
          <p:cNvSpPr/>
          <p:nvPr/>
        </p:nvSpPr>
        <p:spPr>
          <a:xfrm>
            <a:off x="2765110" y="5063770"/>
            <a:ext cx="1152590" cy="369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Creating performance metrics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4C38BE-0067-EF73-FFAA-1C219997385B}"/>
              </a:ext>
            </a:extLst>
          </p:cNvPr>
          <p:cNvSpPr/>
          <p:nvPr/>
        </p:nvSpPr>
        <p:spPr>
          <a:xfrm>
            <a:off x="2760508" y="5492821"/>
            <a:ext cx="1152590" cy="369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Providing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ergy_CF_YNR002">
  <a:themeElements>
    <a:clrScheme name="Current">
      <a:dk1>
        <a:srgbClr val="002C46"/>
      </a:dk1>
      <a:lt1>
        <a:srgbClr val="FFFFFF"/>
      </a:lt1>
      <a:dk2>
        <a:srgbClr val="FBC14E"/>
      </a:dk2>
      <a:lt2>
        <a:srgbClr val="879C16"/>
      </a:lt2>
      <a:accent1>
        <a:srgbClr val="99AABE"/>
      </a:accent1>
      <a:accent2>
        <a:srgbClr val="406085"/>
      </a:accent2>
      <a:accent3>
        <a:srgbClr val="002C46"/>
      </a:accent3>
      <a:accent4>
        <a:srgbClr val="FBC14E"/>
      </a:accent4>
      <a:accent5>
        <a:srgbClr val="379BBD"/>
      </a:accent5>
      <a:accent6>
        <a:srgbClr val="808080"/>
      </a:accent6>
      <a:hlink>
        <a:srgbClr val="002C46"/>
      </a:hlink>
      <a:folHlink>
        <a:srgbClr val="FBC1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</TotalTime>
  <Words>179</Words>
  <Application>Microsoft Office PowerPoint</Application>
  <PresentationFormat>On-screen Show (4:3)</PresentationFormat>
  <Paragraphs>30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Quattrocento Sans</vt:lpstr>
      <vt:lpstr>Noto Sans Symbols</vt:lpstr>
      <vt:lpstr>Arial</vt:lpstr>
      <vt:lpstr>Calibri</vt:lpstr>
      <vt:lpstr>Synergy_CF_YNR002</vt:lpstr>
      <vt:lpstr>Monalco Mining – Rishi Kamdar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Hui, Chris</dc:creator>
  <cp:lastModifiedBy>Kamdar, Rishi</cp:lastModifiedBy>
  <cp:revision>3</cp:revision>
  <dcterms:created xsi:type="dcterms:W3CDTF">2019-05-15T15:57:18Z</dcterms:created>
  <dcterms:modified xsi:type="dcterms:W3CDTF">2024-10-03T15:21:09Z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7c7b3fc-4128-41ae-86b4-e4b1b1ae5e15_Enabled">
    <vt:lpwstr>True</vt:lpwstr>
  </property>
  <property fmtid="{D5CDD505-2E9C-101B-9397-08002B2CF9AE}" pid="3" name="MSIP_Label_97c7b3fc-4128-41ae-86b4-e4b1b1ae5e15_SiteId">
    <vt:lpwstr>97160e56-eb00-44fe-b31d-0d6d351c636d</vt:lpwstr>
  </property>
  <property fmtid="{D5CDD505-2E9C-101B-9397-08002B2CF9AE}" pid="4" name="MSIP_Label_97c7b3fc-4128-41ae-86b4-e4b1b1ae5e15_Owner">
    <vt:lpwstr>Chris.Hui@origin.com.au</vt:lpwstr>
  </property>
  <property fmtid="{D5CDD505-2E9C-101B-9397-08002B2CF9AE}" pid="5" name="MSIP_Label_97c7b3fc-4128-41ae-86b4-e4b1b1ae5e15_SetDate">
    <vt:lpwstr>2019-05-20T07:55:06.5812107Z</vt:lpwstr>
  </property>
  <property fmtid="{D5CDD505-2E9C-101B-9397-08002B2CF9AE}" pid="6" name="MSIP_Label_97c7b3fc-4128-41ae-86b4-e4b1b1ae5e15_Name">
    <vt:lpwstr>General</vt:lpwstr>
  </property>
  <property fmtid="{D5CDD505-2E9C-101B-9397-08002B2CF9AE}" pid="7" name="MSIP_Label_97c7b3fc-4128-41ae-86b4-e4b1b1ae5e15_Application">
    <vt:lpwstr>Microsoft Azure Information Protection</vt:lpwstr>
  </property>
  <property fmtid="{D5CDD505-2E9C-101B-9397-08002B2CF9AE}" pid="8" name="MSIP_Label_97c7b3fc-4128-41ae-86b4-e4b1b1ae5e15_Extended_MSFT_Method">
    <vt:lpwstr>Automatic</vt:lpwstr>
  </property>
  <property fmtid="{D5CDD505-2E9C-101B-9397-08002B2CF9AE}" pid="9" name="Sensitivity">
    <vt:lpwstr>General</vt:lpwstr>
  </property>
</Properties>
</file>