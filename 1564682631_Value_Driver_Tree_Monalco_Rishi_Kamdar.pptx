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gGhHlLfOa+tvK/pVGqm+YIgjnI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183951" y="1316221"/>
            <a:ext cx="8851330" cy="4939431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C0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1"/>
          <p:cNvGrpSpPr/>
          <p:nvPr/>
        </p:nvGrpSpPr>
        <p:grpSpPr>
          <a:xfrm>
            <a:off x="270" y="832713"/>
            <a:ext cx="9143461" cy="472802"/>
            <a:chOff x="0" y="816135"/>
            <a:chExt cx="8961438" cy="463390"/>
          </a:xfrm>
        </p:grpSpPr>
        <p:sp>
          <p:nvSpPr>
            <p:cNvPr id="22" name="Google Shape;22;p1"/>
            <p:cNvSpPr/>
            <p:nvPr/>
          </p:nvSpPr>
          <p:spPr>
            <a:xfrm>
              <a:off x="0" y="816135"/>
              <a:ext cx="8961438" cy="463390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" name="Google Shape;23;p1"/>
            <p:cNvCxnSpPr/>
            <p:nvPr/>
          </p:nvCxnSpPr>
          <p:spPr>
            <a:xfrm>
              <a:off x="0" y="816135"/>
              <a:ext cx="8961438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24" name="Google Shape;24;p1"/>
          <p:cNvCxnSpPr/>
          <p:nvPr/>
        </p:nvCxnSpPr>
        <p:spPr>
          <a:xfrm rot="-5400000" flipH="1">
            <a:off x="3937567" y="5252755"/>
            <a:ext cx="806700" cy="133800"/>
          </a:xfrm>
          <a:prstGeom prst="bentConnector2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1"/>
          <p:cNvCxnSpPr/>
          <p:nvPr/>
        </p:nvCxnSpPr>
        <p:spPr>
          <a:xfrm rot="-5400000" flipH="1">
            <a:off x="3898327" y="2937945"/>
            <a:ext cx="673200" cy="204300"/>
          </a:xfrm>
          <a:prstGeom prst="bentConnector3">
            <a:avLst>
              <a:gd name="adj1" fmla="val 0"/>
            </a:avLst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26;p1"/>
          <p:cNvCxnSpPr/>
          <p:nvPr/>
        </p:nvCxnSpPr>
        <p:spPr>
          <a:xfrm rot="-5400000">
            <a:off x="3937442" y="4413787"/>
            <a:ext cx="673200" cy="204300"/>
          </a:xfrm>
          <a:prstGeom prst="bentConnector3">
            <a:avLst>
              <a:gd name="adj1" fmla="val 0"/>
            </a:avLst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27;p1"/>
          <p:cNvCxnSpPr/>
          <p:nvPr/>
        </p:nvCxnSpPr>
        <p:spPr>
          <a:xfrm rot="-5400000">
            <a:off x="3898327" y="2264745"/>
            <a:ext cx="673200" cy="204300"/>
          </a:xfrm>
          <a:prstGeom prst="bentConnector3">
            <a:avLst>
              <a:gd name="adj1" fmla="val 0"/>
            </a:avLst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8" name="Google Shape;28;p1"/>
          <p:cNvGrpSpPr/>
          <p:nvPr/>
        </p:nvGrpSpPr>
        <p:grpSpPr>
          <a:xfrm>
            <a:off x="253680" y="3548500"/>
            <a:ext cx="2547935" cy="425774"/>
            <a:chOff x="181335" y="3496200"/>
            <a:chExt cx="2745460" cy="465566"/>
          </a:xfrm>
        </p:grpSpPr>
        <p:grpSp>
          <p:nvGrpSpPr>
            <p:cNvPr id="29" name="Google Shape;29;p1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30" name="Google Shape;30;p1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/>
              </a:p>
            </p:txBody>
          </p:sp>
          <p:sp>
            <p:nvSpPr>
              <p:cNvPr id="31" name="Google Shape;31;p1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/>
              </a:p>
            </p:txBody>
          </p:sp>
        </p:grpSp>
        <p:grpSp>
          <p:nvGrpSpPr>
            <p:cNvPr id="32" name="Google Shape;32;p1"/>
            <p:cNvGrpSpPr/>
            <p:nvPr/>
          </p:nvGrpSpPr>
          <p:grpSpPr>
            <a:xfrm>
              <a:off x="181335" y="3496200"/>
              <a:ext cx="1275292" cy="465566"/>
              <a:chOff x="4934192" y="1056229"/>
              <a:chExt cx="1131757" cy="444628"/>
            </a:xfrm>
          </p:grpSpPr>
          <p:sp>
            <p:nvSpPr>
              <p:cNvPr id="33" name="Google Shape;33;p1"/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  <a:t>Iron Ore Sales per Ton</a:t>
                </a:r>
                <a:endParaRPr sz="714" b="0" i="0" u="none" strike="noStrike" cap="none" dirty="0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"/>
              <p:cNvSpPr txBox="1"/>
              <p:nvPr/>
            </p:nvSpPr>
            <p:spPr>
              <a:xfrm>
                <a:off x="4954832" y="1080554"/>
                <a:ext cx="769475" cy="114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Main Value Driver</a:t>
                </a:r>
                <a:endParaRPr/>
              </a:p>
            </p:txBody>
          </p:sp>
          <p:sp>
            <p:nvSpPr>
              <p:cNvPr id="36" name="Google Shape;36;p1"/>
              <p:cNvSpPr txBox="1"/>
              <p:nvPr/>
            </p:nvSpPr>
            <p:spPr>
              <a:xfrm>
                <a:off x="5713681" y="1080555"/>
                <a:ext cx="329898" cy="1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(unit)</a:t>
                </a:r>
                <a:endParaRPr/>
              </a:p>
            </p:txBody>
          </p:sp>
        </p:grpSp>
      </p:grpSp>
      <p:cxnSp>
        <p:nvCxnSpPr>
          <p:cNvPr id="37" name="Google Shape;37;p1"/>
          <p:cNvCxnSpPr>
            <a:cxnSpLocks/>
            <a:stCxn id="33" idx="3"/>
          </p:cNvCxnSpPr>
          <p:nvPr/>
        </p:nvCxnSpPr>
        <p:spPr>
          <a:xfrm>
            <a:off x="1437220" y="3761387"/>
            <a:ext cx="1481400" cy="1050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"/>
          <p:cNvCxnSpPr>
            <a:cxnSpLocks/>
            <a:stCxn id="33" idx="3"/>
          </p:cNvCxnSpPr>
          <p:nvPr/>
        </p:nvCxnSpPr>
        <p:spPr>
          <a:xfrm rot="10800000" flipH="1">
            <a:off x="1437220" y="2710487"/>
            <a:ext cx="1515900" cy="10509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" name="Google Shape;39;p1"/>
          <p:cNvGrpSpPr/>
          <p:nvPr/>
        </p:nvGrpSpPr>
        <p:grpSpPr>
          <a:xfrm>
            <a:off x="2157806" y="3679671"/>
            <a:ext cx="155774" cy="155774"/>
            <a:chOff x="4283114" y="-597224"/>
            <a:chExt cx="170332" cy="170332"/>
          </a:xfrm>
        </p:grpSpPr>
        <p:sp>
          <p:nvSpPr>
            <p:cNvPr id="40" name="Google Shape;40;p1"/>
            <p:cNvSpPr/>
            <p:nvPr/>
          </p:nvSpPr>
          <p:spPr>
            <a:xfrm>
              <a:off x="4283114" y="-597224"/>
              <a:ext cx="170332" cy="170332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4308743" y="-571595"/>
              <a:ext cx="119073" cy="119073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83" y="0"/>
                  </a:moveTo>
                  <a:lnTo>
                    <a:pt x="119" y="0"/>
                  </a:lnTo>
                  <a:lnTo>
                    <a:pt x="119" y="83"/>
                  </a:lnTo>
                  <a:lnTo>
                    <a:pt x="204" y="83"/>
                  </a:lnTo>
                  <a:lnTo>
                    <a:pt x="204" y="119"/>
                  </a:lnTo>
                  <a:lnTo>
                    <a:pt x="119" y="119"/>
                  </a:lnTo>
                  <a:lnTo>
                    <a:pt x="119" y="204"/>
                  </a:lnTo>
                  <a:lnTo>
                    <a:pt x="83" y="204"/>
                  </a:lnTo>
                  <a:lnTo>
                    <a:pt x="83" y="119"/>
                  </a:lnTo>
                  <a:lnTo>
                    <a:pt x="0" y="119"/>
                  </a:lnTo>
                  <a:lnTo>
                    <a:pt x="0" y="83"/>
                  </a:lnTo>
                  <a:lnTo>
                    <a:pt x="83" y="8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3275" tIns="46625" rIns="93275" bIns="46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" name="Google Shape;42;p1"/>
          <p:cNvGrpSpPr/>
          <p:nvPr/>
        </p:nvGrpSpPr>
        <p:grpSpPr>
          <a:xfrm>
            <a:off x="4154361" y="2616716"/>
            <a:ext cx="155774" cy="155774"/>
            <a:chOff x="4283114" y="-597224"/>
            <a:chExt cx="170332" cy="170332"/>
          </a:xfrm>
        </p:grpSpPr>
        <p:sp>
          <p:nvSpPr>
            <p:cNvPr id="43" name="Google Shape;43;p1"/>
            <p:cNvSpPr/>
            <p:nvPr/>
          </p:nvSpPr>
          <p:spPr>
            <a:xfrm>
              <a:off x="4283114" y="-597224"/>
              <a:ext cx="170332" cy="170332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4308743" y="-571595"/>
              <a:ext cx="119073" cy="119073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83" y="0"/>
                  </a:moveTo>
                  <a:lnTo>
                    <a:pt x="119" y="0"/>
                  </a:lnTo>
                  <a:lnTo>
                    <a:pt x="119" y="83"/>
                  </a:lnTo>
                  <a:lnTo>
                    <a:pt x="204" y="83"/>
                  </a:lnTo>
                  <a:lnTo>
                    <a:pt x="204" y="119"/>
                  </a:lnTo>
                  <a:lnTo>
                    <a:pt x="119" y="119"/>
                  </a:lnTo>
                  <a:lnTo>
                    <a:pt x="119" y="204"/>
                  </a:lnTo>
                  <a:lnTo>
                    <a:pt x="83" y="204"/>
                  </a:lnTo>
                  <a:lnTo>
                    <a:pt x="83" y="119"/>
                  </a:lnTo>
                  <a:lnTo>
                    <a:pt x="0" y="119"/>
                  </a:lnTo>
                  <a:lnTo>
                    <a:pt x="0" y="83"/>
                  </a:lnTo>
                  <a:lnTo>
                    <a:pt x="83" y="8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3275" tIns="46625" rIns="93275" bIns="46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1"/>
          <p:cNvGrpSpPr/>
          <p:nvPr/>
        </p:nvGrpSpPr>
        <p:grpSpPr>
          <a:xfrm>
            <a:off x="4165776" y="4769932"/>
            <a:ext cx="155774" cy="155774"/>
            <a:chOff x="4283114" y="-597224"/>
            <a:chExt cx="170332" cy="170332"/>
          </a:xfrm>
        </p:grpSpPr>
        <p:sp>
          <p:nvSpPr>
            <p:cNvPr id="46" name="Google Shape;46;p1"/>
            <p:cNvSpPr/>
            <p:nvPr/>
          </p:nvSpPr>
          <p:spPr>
            <a:xfrm>
              <a:off x="4283114" y="-597224"/>
              <a:ext cx="170332" cy="170332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4308743" y="-571595"/>
              <a:ext cx="119073" cy="119073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83" y="0"/>
                  </a:moveTo>
                  <a:lnTo>
                    <a:pt x="119" y="0"/>
                  </a:lnTo>
                  <a:lnTo>
                    <a:pt x="119" y="83"/>
                  </a:lnTo>
                  <a:lnTo>
                    <a:pt x="204" y="83"/>
                  </a:lnTo>
                  <a:lnTo>
                    <a:pt x="204" y="119"/>
                  </a:lnTo>
                  <a:lnTo>
                    <a:pt x="119" y="119"/>
                  </a:lnTo>
                  <a:lnTo>
                    <a:pt x="119" y="204"/>
                  </a:lnTo>
                  <a:lnTo>
                    <a:pt x="83" y="204"/>
                  </a:lnTo>
                  <a:lnTo>
                    <a:pt x="83" y="119"/>
                  </a:lnTo>
                  <a:lnTo>
                    <a:pt x="0" y="119"/>
                  </a:lnTo>
                  <a:lnTo>
                    <a:pt x="0" y="83"/>
                  </a:lnTo>
                  <a:lnTo>
                    <a:pt x="83" y="8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3275" tIns="46625" rIns="93275" bIns="46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1"/>
          <p:cNvGrpSpPr/>
          <p:nvPr/>
        </p:nvGrpSpPr>
        <p:grpSpPr>
          <a:xfrm>
            <a:off x="2973491" y="2478066"/>
            <a:ext cx="2547936" cy="642236"/>
            <a:chOff x="181335" y="3496200"/>
            <a:chExt cx="2745460" cy="702258"/>
          </a:xfrm>
        </p:grpSpPr>
        <p:grpSp>
          <p:nvGrpSpPr>
            <p:cNvPr id="49" name="Google Shape;49;p1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50" name="Google Shape;50;p1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/>
              </a:p>
            </p:txBody>
          </p:sp>
          <p:sp>
            <p:nvSpPr>
              <p:cNvPr id="51" name="Google Shape;51;p1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/>
              </a:p>
            </p:txBody>
          </p:sp>
        </p:grpSp>
        <p:grpSp>
          <p:nvGrpSpPr>
            <p:cNvPr id="52" name="Google Shape;52;p1"/>
            <p:cNvGrpSpPr/>
            <p:nvPr/>
          </p:nvGrpSpPr>
          <p:grpSpPr>
            <a:xfrm>
              <a:off x="181335" y="3496200"/>
              <a:ext cx="1275292" cy="702258"/>
              <a:chOff x="4934192" y="1056229"/>
              <a:chExt cx="1131757" cy="670675"/>
            </a:xfrm>
          </p:grpSpPr>
          <p:sp>
            <p:nvSpPr>
              <p:cNvPr id="53" name="Google Shape;53;p1"/>
              <p:cNvSpPr/>
              <p:nvPr/>
            </p:nvSpPr>
            <p:spPr>
              <a:xfrm>
                <a:off x="4934192" y="1056229"/>
                <a:ext cx="1131757" cy="670675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700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  <a:t>Ore Crusher Maintenance Costs</a:t>
                </a:r>
                <a:endParaRPr sz="714" b="0" i="0" u="none" strike="noStrike" cap="none" dirty="0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1"/>
              <p:cNvSpPr txBox="1"/>
              <p:nvPr/>
            </p:nvSpPr>
            <p:spPr>
              <a:xfrm>
                <a:off x="4954832" y="1080554"/>
                <a:ext cx="769475" cy="114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Sub-Value Driver</a:t>
                </a:r>
                <a:endParaRPr/>
              </a:p>
            </p:txBody>
          </p:sp>
          <p:sp>
            <p:nvSpPr>
              <p:cNvPr id="56" name="Google Shape;56;p1"/>
              <p:cNvSpPr txBox="1"/>
              <p:nvPr/>
            </p:nvSpPr>
            <p:spPr>
              <a:xfrm>
                <a:off x="5713681" y="1080555"/>
                <a:ext cx="329898" cy="1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(unit)</a:t>
                </a:r>
                <a:endParaRPr/>
              </a:p>
            </p:txBody>
          </p:sp>
        </p:grpSp>
      </p:grpSp>
      <p:grpSp>
        <p:nvGrpSpPr>
          <p:cNvPr id="57" name="Google Shape;57;p1"/>
          <p:cNvGrpSpPr/>
          <p:nvPr/>
        </p:nvGrpSpPr>
        <p:grpSpPr>
          <a:xfrm>
            <a:off x="2973491" y="4617459"/>
            <a:ext cx="2547936" cy="673200"/>
            <a:chOff x="181335" y="3496201"/>
            <a:chExt cx="2745460" cy="736116"/>
          </a:xfrm>
        </p:grpSpPr>
        <p:grpSp>
          <p:nvGrpSpPr>
            <p:cNvPr id="58" name="Google Shape;58;p1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59" name="Google Shape;59;p1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/>
              </a:p>
            </p:txBody>
          </p:sp>
          <p:sp>
            <p:nvSpPr>
              <p:cNvPr id="60" name="Google Shape;60;p1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/>
              </a:p>
            </p:txBody>
          </p:sp>
        </p:grpSp>
        <p:grpSp>
          <p:nvGrpSpPr>
            <p:cNvPr id="61" name="Google Shape;61;p1"/>
            <p:cNvGrpSpPr/>
            <p:nvPr/>
          </p:nvGrpSpPr>
          <p:grpSpPr>
            <a:xfrm>
              <a:off x="181335" y="3496201"/>
              <a:ext cx="1275292" cy="736116"/>
              <a:chOff x="4934192" y="1056229"/>
              <a:chExt cx="1131757" cy="703010"/>
            </a:xfrm>
          </p:grpSpPr>
          <p:sp>
            <p:nvSpPr>
              <p:cNvPr id="62" name="Google Shape;62;p1"/>
              <p:cNvSpPr/>
              <p:nvPr/>
            </p:nvSpPr>
            <p:spPr>
              <a:xfrm>
                <a:off x="4934192" y="1056229"/>
                <a:ext cx="1131757" cy="70301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  <a:t>Ore Crusher Operational Costs</a:t>
                </a:r>
                <a:endParaRPr sz="714" b="0" i="0" u="none" strike="noStrike" cap="none" dirty="0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"/>
              <p:cNvSpPr txBox="1"/>
              <p:nvPr/>
            </p:nvSpPr>
            <p:spPr>
              <a:xfrm>
                <a:off x="4954832" y="1080554"/>
                <a:ext cx="769475" cy="114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Sub-Value Driver</a:t>
                </a:r>
                <a:endParaRPr/>
              </a:p>
            </p:txBody>
          </p:sp>
          <p:sp>
            <p:nvSpPr>
              <p:cNvPr id="65" name="Google Shape;65;p1"/>
              <p:cNvSpPr txBox="1"/>
              <p:nvPr/>
            </p:nvSpPr>
            <p:spPr>
              <a:xfrm>
                <a:off x="5713681" y="1080555"/>
                <a:ext cx="329898" cy="1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(unit)</a:t>
                </a:r>
                <a:endParaRPr/>
              </a:p>
            </p:txBody>
          </p:sp>
        </p:grpSp>
      </p:grpSp>
      <p:grpSp>
        <p:nvGrpSpPr>
          <p:cNvPr id="66" name="Google Shape;66;p1"/>
          <p:cNvGrpSpPr/>
          <p:nvPr/>
        </p:nvGrpSpPr>
        <p:grpSpPr>
          <a:xfrm>
            <a:off x="4407869" y="5465136"/>
            <a:ext cx="2547936" cy="624371"/>
            <a:chOff x="181335" y="3496200"/>
            <a:chExt cx="2745460" cy="682723"/>
          </a:xfrm>
        </p:grpSpPr>
        <p:grpSp>
          <p:nvGrpSpPr>
            <p:cNvPr id="67" name="Google Shape;67;p1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68" name="Google Shape;68;p1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/>
              </a:p>
            </p:txBody>
          </p:sp>
          <p:sp>
            <p:nvSpPr>
              <p:cNvPr id="69" name="Google Shape;69;p1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/>
              </a:p>
            </p:txBody>
          </p:sp>
        </p:grpSp>
        <p:grpSp>
          <p:nvGrpSpPr>
            <p:cNvPr id="70" name="Google Shape;70;p1"/>
            <p:cNvGrpSpPr/>
            <p:nvPr/>
          </p:nvGrpSpPr>
          <p:grpSpPr>
            <a:xfrm>
              <a:off x="181335" y="3496200"/>
              <a:ext cx="1275292" cy="682723"/>
              <a:chOff x="4934192" y="1056229"/>
              <a:chExt cx="1131757" cy="652019"/>
            </a:xfrm>
          </p:grpSpPr>
          <p:sp>
            <p:nvSpPr>
              <p:cNvPr id="71" name="Google Shape;71;p1"/>
              <p:cNvSpPr/>
              <p:nvPr/>
            </p:nvSpPr>
            <p:spPr>
              <a:xfrm>
                <a:off x="4934192" y="1056229"/>
                <a:ext cx="1131757" cy="652019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  <a:t>Market Price for Iron Ore</a:t>
                </a: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endParaRPr sz="714" b="0" i="0" u="none" strike="noStrike" cap="none" dirty="0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"/>
              <p:cNvSpPr txBox="1"/>
              <p:nvPr/>
            </p:nvSpPr>
            <p:spPr>
              <a:xfrm>
                <a:off x="4954832" y="1080554"/>
                <a:ext cx="769475" cy="114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Sub-Value Driver</a:t>
                </a:r>
                <a:endParaRPr/>
              </a:p>
            </p:txBody>
          </p:sp>
          <p:sp>
            <p:nvSpPr>
              <p:cNvPr id="74" name="Google Shape;74;p1"/>
              <p:cNvSpPr txBox="1"/>
              <p:nvPr/>
            </p:nvSpPr>
            <p:spPr>
              <a:xfrm>
                <a:off x="5713681" y="1080555"/>
                <a:ext cx="329898" cy="1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(unit)</a:t>
                </a:r>
                <a:endParaRPr/>
              </a:p>
            </p:txBody>
          </p:sp>
        </p:grpSp>
      </p:grpSp>
      <p:grpSp>
        <p:nvGrpSpPr>
          <p:cNvPr id="75" name="Google Shape;75;p1"/>
          <p:cNvGrpSpPr/>
          <p:nvPr/>
        </p:nvGrpSpPr>
        <p:grpSpPr>
          <a:xfrm>
            <a:off x="4349652" y="1807397"/>
            <a:ext cx="2547936" cy="689342"/>
            <a:chOff x="181335" y="3496200"/>
            <a:chExt cx="2745460" cy="753766"/>
          </a:xfrm>
        </p:grpSpPr>
        <p:grpSp>
          <p:nvGrpSpPr>
            <p:cNvPr id="76" name="Google Shape;76;p1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77" name="Google Shape;77;p1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/>
              </a:p>
            </p:txBody>
          </p:sp>
          <p:sp>
            <p:nvSpPr>
              <p:cNvPr id="78" name="Google Shape;78;p1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/>
              </a:p>
            </p:txBody>
          </p:sp>
        </p:grpSp>
        <p:grpSp>
          <p:nvGrpSpPr>
            <p:cNvPr id="79" name="Google Shape;79;p1"/>
            <p:cNvGrpSpPr/>
            <p:nvPr/>
          </p:nvGrpSpPr>
          <p:grpSpPr>
            <a:xfrm>
              <a:off x="181335" y="3496200"/>
              <a:ext cx="1275292" cy="753766"/>
              <a:chOff x="4934192" y="1056229"/>
              <a:chExt cx="1131757" cy="719867"/>
            </a:xfrm>
          </p:grpSpPr>
          <p:sp>
            <p:nvSpPr>
              <p:cNvPr id="80" name="Google Shape;80;p1"/>
              <p:cNvSpPr/>
              <p:nvPr/>
            </p:nvSpPr>
            <p:spPr>
              <a:xfrm>
                <a:off x="4934192" y="1056229"/>
                <a:ext cx="1131757" cy="71986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  <a:t>Identifying frequency of machine maintenance </a:t>
                </a:r>
                <a:endParaRPr sz="714" b="0" i="0" u="none" strike="noStrike" cap="none" dirty="0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"/>
              <p:cNvSpPr txBox="1"/>
              <p:nvPr/>
            </p:nvSpPr>
            <p:spPr>
              <a:xfrm>
                <a:off x="4954832" y="1080554"/>
                <a:ext cx="769475" cy="114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Sub-Value Driver</a:t>
                </a:r>
                <a:endParaRPr/>
              </a:p>
            </p:txBody>
          </p:sp>
          <p:sp>
            <p:nvSpPr>
              <p:cNvPr id="83" name="Google Shape;83;p1"/>
              <p:cNvSpPr txBox="1"/>
              <p:nvPr/>
            </p:nvSpPr>
            <p:spPr>
              <a:xfrm>
                <a:off x="5713681" y="1080555"/>
                <a:ext cx="329898" cy="1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(unit)</a:t>
                </a:r>
                <a:endParaRPr/>
              </a:p>
            </p:txBody>
          </p:sp>
        </p:grpSp>
      </p:grpSp>
      <p:grpSp>
        <p:nvGrpSpPr>
          <p:cNvPr id="84" name="Google Shape;84;p1"/>
          <p:cNvGrpSpPr/>
          <p:nvPr/>
        </p:nvGrpSpPr>
        <p:grpSpPr>
          <a:xfrm>
            <a:off x="4359858" y="3120299"/>
            <a:ext cx="2547936" cy="641085"/>
            <a:chOff x="181335" y="3496200"/>
            <a:chExt cx="2745460" cy="701000"/>
          </a:xfrm>
        </p:grpSpPr>
        <p:grpSp>
          <p:nvGrpSpPr>
            <p:cNvPr id="85" name="Google Shape;85;p1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86" name="Google Shape;86;p1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/>
              </a:p>
            </p:txBody>
          </p:sp>
          <p:sp>
            <p:nvSpPr>
              <p:cNvPr id="87" name="Google Shape;87;p1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/>
              </a:p>
            </p:txBody>
          </p:sp>
        </p:grpSp>
        <p:grpSp>
          <p:nvGrpSpPr>
            <p:cNvPr id="88" name="Google Shape;88;p1"/>
            <p:cNvGrpSpPr/>
            <p:nvPr/>
          </p:nvGrpSpPr>
          <p:grpSpPr>
            <a:xfrm>
              <a:off x="181335" y="3496200"/>
              <a:ext cx="1275292" cy="701000"/>
              <a:chOff x="4934192" y="1056229"/>
              <a:chExt cx="1131757" cy="669474"/>
            </a:xfrm>
          </p:grpSpPr>
          <p:sp>
            <p:nvSpPr>
              <p:cNvPr id="89" name="Google Shape;89;p1"/>
              <p:cNvSpPr/>
              <p:nvPr/>
            </p:nvSpPr>
            <p:spPr>
              <a:xfrm>
                <a:off x="4934192" y="1056229"/>
                <a:ext cx="1131757" cy="66947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  <a:t>Work Oder Data and Costs</a:t>
                </a:r>
                <a:endParaRPr sz="714" b="0" i="0" u="none" strike="noStrike" cap="none" dirty="0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"/>
              <p:cNvSpPr txBox="1"/>
              <p:nvPr/>
            </p:nvSpPr>
            <p:spPr>
              <a:xfrm>
                <a:off x="4954832" y="1080554"/>
                <a:ext cx="769475" cy="114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Sub-Value Driver</a:t>
                </a: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5713681" y="1080555"/>
                <a:ext cx="329898" cy="1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(unit)</a:t>
                </a:r>
                <a:endParaRPr/>
              </a:p>
            </p:txBody>
          </p:sp>
        </p:grpSp>
      </p:grpSp>
      <p:grpSp>
        <p:nvGrpSpPr>
          <p:cNvPr id="93" name="Google Shape;93;p1"/>
          <p:cNvGrpSpPr/>
          <p:nvPr/>
        </p:nvGrpSpPr>
        <p:grpSpPr>
          <a:xfrm>
            <a:off x="4366724" y="3924296"/>
            <a:ext cx="2547936" cy="624371"/>
            <a:chOff x="181335" y="3496200"/>
            <a:chExt cx="2745460" cy="682724"/>
          </a:xfrm>
        </p:grpSpPr>
        <p:grpSp>
          <p:nvGrpSpPr>
            <p:cNvPr id="94" name="Google Shape;94;p1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95" name="Google Shape;95;p1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/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81335" y="3496200"/>
              <a:ext cx="1275292" cy="682724"/>
              <a:chOff x="4934192" y="1056229"/>
              <a:chExt cx="1131757" cy="65202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4934192" y="1056229"/>
                <a:ext cx="1131757" cy="65202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714" b="0" i="0" u="none" strike="noStrike" cap="none" dirty="0">
                    <a:solidFill>
                      <a:srgbClr val="002C46"/>
                    </a:solidFill>
                    <a:latin typeface="Arial"/>
                    <a:ea typeface="Arial"/>
                    <a:cs typeface="Arial"/>
                    <a:sym typeface="Arial"/>
                  </a:rPr>
                  <a:t>Maintain Ore Production at Current Level</a:t>
                </a:r>
                <a:endParaRPr sz="714" b="0" i="0" u="none" strike="noStrike" cap="none" dirty="0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"/>
              <p:cNvSpPr txBox="1"/>
              <p:nvPr/>
            </p:nvSpPr>
            <p:spPr>
              <a:xfrm>
                <a:off x="4954832" y="1080554"/>
                <a:ext cx="769475" cy="114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Sub-Value Driver</a:t>
                </a:r>
                <a:endParaRPr/>
              </a:p>
            </p:txBody>
          </p:sp>
          <p:sp>
            <p:nvSpPr>
              <p:cNvPr id="101" name="Google Shape;101;p1"/>
              <p:cNvSpPr txBox="1"/>
              <p:nvPr/>
            </p:nvSpPr>
            <p:spPr>
              <a:xfrm>
                <a:off x="5713681" y="1080555"/>
                <a:ext cx="329898" cy="1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(unit)</a:t>
                </a:r>
                <a:endParaRPr/>
              </a:p>
            </p:txBody>
          </p:sp>
        </p:grpSp>
      </p:grpSp>
      <p:sp>
        <p:nvSpPr>
          <p:cNvPr id="102" name="Google Shape;102;p1"/>
          <p:cNvSpPr txBox="1">
            <a:spLocks noGrp="1"/>
          </p:cNvSpPr>
          <p:nvPr>
            <p:ph type="title"/>
          </p:nvPr>
        </p:nvSpPr>
        <p:spPr>
          <a:xfrm>
            <a:off x="171451" y="230188"/>
            <a:ext cx="8618537" cy="29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00" dirty="0"/>
              <a:t>Value Driver Tree </a:t>
            </a:r>
            <a:r>
              <a:rPr lang="en-US" sz="1900" dirty="0" err="1"/>
              <a:t>Monalco</a:t>
            </a:r>
            <a:r>
              <a:rPr lang="en-US" sz="1900" dirty="0"/>
              <a:t> – Rishi Kamdar</a:t>
            </a:r>
            <a:endParaRPr dirty="0"/>
          </a:p>
        </p:txBody>
      </p:sp>
      <p:sp>
        <p:nvSpPr>
          <p:cNvPr id="103" name="Google Shape;103;p1"/>
          <p:cNvSpPr/>
          <p:nvPr/>
        </p:nvSpPr>
        <p:spPr>
          <a:xfrm>
            <a:off x="171451" y="17463"/>
            <a:ext cx="259365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STRUCTURED FOUNDATIONS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6117194" y="1866393"/>
            <a:ext cx="2686731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 tool to break a business lever down into a simple equation that shows all connected ‘drivers’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 sense-check to ensure that any value-driver can be easily reconstructed based off the correctly defined inputs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 way to help focus efforts and facilitate efforts towards ‘optimising’ drivers which impact the main value driver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6079578" y="1366677"/>
            <a:ext cx="2880471" cy="329575"/>
          </a:xfrm>
          <a:prstGeom prst="rect">
            <a:avLst/>
          </a:prstGeom>
          <a:solidFill>
            <a:srgbClr val="00C09D"/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value driver tree is….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On-screen Show (4:3)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Noto Sans Symbols</vt:lpstr>
      <vt:lpstr>Quattrocento Sans</vt:lpstr>
      <vt:lpstr>Synergy_CF_YNR002</vt:lpstr>
      <vt:lpstr>Value Driver Tree Monalco – Rishi Kamdar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Hui, Chris</dc:creator>
  <cp:lastModifiedBy>Kamdar, Rishi</cp:lastModifiedBy>
  <cp:revision>1</cp:revision>
  <dcterms:created xsi:type="dcterms:W3CDTF">2019-05-15T15:57:18Z</dcterms:created>
  <dcterms:modified xsi:type="dcterms:W3CDTF">2024-10-03T15:35:32Z</dcterms:modified>
</cp:coreProperties>
</file>